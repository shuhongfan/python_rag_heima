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13"/>
  </p:notesMasterIdLst>
  <p:handoutMasterIdLst>
    <p:handoutMasterId r:id="rId14"/>
  </p:handoutMasterIdLst>
  <p:sldIdLst>
    <p:sldId id="314" r:id="rId3"/>
    <p:sldId id="315" r:id="rId4"/>
    <p:sldId id="410" r:id="rId5"/>
    <p:sldId id="411" r:id="rId6"/>
    <p:sldId id="412" r:id="rId7"/>
    <p:sldId id="413" r:id="rId8"/>
    <p:sldId id="414" r:id="rId9"/>
    <p:sldId id="415" r:id="rId10"/>
    <p:sldId id="416" r:id="rId11"/>
    <p:sldId id="418" r:id="rId12"/>
  </p:sldIdLst>
  <p:sldSz cx="12192000" cy="6858000"/>
  <p:notesSz cx="9144000" cy="6858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18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2A26"/>
    <a:srgbClr val="E9E9E9"/>
    <a:srgbClr val="DFDFDF"/>
    <a:srgbClr val="D2D2D2"/>
    <a:srgbClr val="F0F0F0"/>
    <a:srgbClr val="F2D093"/>
    <a:srgbClr val="1E386B"/>
    <a:srgbClr val="928740"/>
    <a:srgbClr val="1D2643"/>
    <a:srgbClr val="0A0A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96" autoAdjust="0"/>
    <p:restoredTop sz="94660"/>
  </p:normalViewPr>
  <p:slideViewPr>
    <p:cSldViewPr showGuides="1">
      <p:cViewPr>
        <p:scale>
          <a:sx n="66" d="100"/>
          <a:sy n="66" d="100"/>
        </p:scale>
        <p:origin x="888" y="413"/>
      </p:cViewPr>
      <p:guideLst>
        <p:guide pos="3818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230A6-6801-49AE-B911-90D6C6A8C43A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4C181-0E2D-412C-9D40-AD415415BF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 flipV="1">
            <a:off x="6096000" y="2924944"/>
            <a:ext cx="0" cy="88819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6456040" y="2924944"/>
            <a:ext cx="4391793" cy="102076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2" hasCustomPrompt="1"/>
          </p:nvPr>
        </p:nvSpPr>
        <p:spPr>
          <a:xfrm>
            <a:off x="3777012" y="2817019"/>
            <a:ext cx="2160239" cy="122396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7200" spc="33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 Heavy" panose="00020600040101010101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7745" y="334205"/>
            <a:ext cx="4968800" cy="431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Alibaba PuHuiTi Bold" panose="00020600040101010101" charset="-122"/>
                <a:cs typeface="Alibaba PuHuiTi Bold" panose="00020600040101010101" charset="-122"/>
              </a:defRPr>
            </a:lvl1pPr>
          </a:lstStyle>
          <a:p>
            <a:pPr lvl="0"/>
            <a:r>
              <a:rPr lang="zh-CN" altLang="en-US" dirty="0"/>
              <a:t>正文标题，阿里巴巴普惠体 </a:t>
            </a:r>
            <a:r>
              <a:rPr lang="en-US" altLang="zh-CN" dirty="0"/>
              <a:t>Medium 20</a:t>
            </a:r>
            <a:r>
              <a:rPr lang="zh-CN" altLang="en-US" dirty="0"/>
              <a:t>号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124744"/>
            <a:ext cx="11161713" cy="50759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正文内容，阿里巴巴普惠体 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0" y="334010"/>
            <a:ext cx="251460" cy="3683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764540"/>
            <a:ext cx="1182751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色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84580" y="332935"/>
            <a:ext cx="4968800" cy="431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accent3"/>
                </a:solidFill>
                <a:latin typeface="JetBrains Mono" panose="02000009000000000000" pitchFamily="49" charset="0"/>
                <a:ea typeface="Alibaba PuHuiTi Bold" panose="00020600040101010101" charset="-122"/>
                <a:cs typeface="Alibaba PuHuiTi Bold" panose="00020600040101010101" charset="-122"/>
              </a:defRPr>
            </a:lvl1pPr>
          </a:lstStyle>
          <a:p>
            <a:pPr lvl="0"/>
            <a:r>
              <a:rPr lang="zh-CN" altLang="en-US" dirty="0"/>
              <a:t>正文标题，思源宋体 </a:t>
            </a:r>
            <a:r>
              <a:rPr lang="en-US" altLang="zh-CN" dirty="0"/>
              <a:t>CN SemiBold 20</a:t>
            </a:r>
            <a:r>
              <a:rPr lang="zh-CN" altLang="en-US" dirty="0"/>
              <a:t>号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412776"/>
            <a:ext cx="11161713" cy="478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正文内容，阿里巴巴普惠 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0" y="334010"/>
            <a:ext cx="251460" cy="3683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764540"/>
            <a:ext cx="1182751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黑金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/>
          <p:cNvSpPr/>
          <p:nvPr userDrawn="1"/>
        </p:nvSpPr>
        <p:spPr>
          <a:xfrm>
            <a:off x="119336" y="764704"/>
            <a:ext cx="432048" cy="216024"/>
          </a:xfrm>
          <a:prstGeom prst="homePlate">
            <a:avLst/>
          </a:prstGeom>
          <a:solidFill>
            <a:srgbClr val="AD2A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V 形 7"/>
          <p:cNvSpPr/>
          <p:nvPr userDrawn="1"/>
        </p:nvSpPr>
        <p:spPr>
          <a:xfrm>
            <a:off x="479376" y="764704"/>
            <a:ext cx="324036" cy="216024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箭头: V 形 8"/>
          <p:cNvSpPr/>
          <p:nvPr userDrawn="1"/>
        </p:nvSpPr>
        <p:spPr>
          <a:xfrm>
            <a:off x="729086" y="764704"/>
            <a:ext cx="324036" cy="216024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127200" y="656785"/>
            <a:ext cx="4968800" cy="431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aseline="0">
                <a:solidFill>
                  <a:srgbClr val="EFCFBE"/>
                </a:solidFill>
                <a:latin typeface="JetBrains Mono" panose="02000009000000000000" pitchFamily="49" charset="0"/>
                <a:ea typeface="方正姚体" panose="02010601030101010101" pitchFamily="2" charset="-122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正文标题，方正姚体</a:t>
            </a:r>
            <a:r>
              <a:rPr lang="en-US" altLang="zh-CN" dirty="0"/>
              <a:t> 20</a:t>
            </a:r>
            <a:r>
              <a:rPr lang="zh-CN" altLang="en-US" dirty="0"/>
              <a:t>号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412776"/>
            <a:ext cx="11161713" cy="478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正文内容，阿里巴巴普惠体 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343472" y="1988840"/>
            <a:ext cx="3587349" cy="3036721"/>
            <a:chOff x="864135" y="2246295"/>
            <a:chExt cx="3587349" cy="3036721"/>
          </a:xfrm>
        </p:grpSpPr>
        <p:sp>
          <p:nvSpPr>
            <p:cNvPr id="4" name="椭圆 3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tx2">
                <a:alpha val="67000"/>
              </a:schemeClr>
            </a:solidFill>
            <a:ln w="114300" cap="flat" cmpd="sng">
              <a:solidFill>
                <a:srgbClr val="C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8" name="椭圆 7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9" name="椭圆 8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0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solidFill>
                    <a:schemeClr val="bg2">
                      <a:lumMod val="9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5265090" y="1737082"/>
            <a:ext cx="5583885" cy="3384550"/>
          </a:xfrm>
          <a:prstGeom prst="rect">
            <a:avLst/>
          </a:prstGeom>
        </p:spPr>
        <p:txBody>
          <a:bodyPr anchor="ctr"/>
          <a:lstStyle>
            <a:lvl1pPr marL="457200" indent="-457200">
              <a:buFont typeface="Arial" panose="020B0604020202020204" pitchFamily="34" charset="0"/>
              <a:buChar char="•"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1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2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3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4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5</a:t>
            </a:r>
            <a:endParaRPr lang="zh-CN" altLang="en-US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六边形 2"/>
          <p:cNvSpPr/>
          <p:nvPr userDrawn="1"/>
        </p:nvSpPr>
        <p:spPr>
          <a:xfrm rot="5400000">
            <a:off x="1499191" y="3621200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/>
          </a:p>
        </p:txBody>
      </p:sp>
      <p:sp>
        <p:nvSpPr>
          <p:cNvPr id="4" name="六边形 3"/>
          <p:cNvSpPr/>
          <p:nvPr userDrawn="1"/>
        </p:nvSpPr>
        <p:spPr>
          <a:xfrm rot="5400000">
            <a:off x="2041858" y="2641720"/>
            <a:ext cx="1944550" cy="1676336"/>
          </a:xfrm>
          <a:prstGeom prst="hexagon">
            <a:avLst/>
          </a:prstGeom>
          <a:solidFill>
            <a:schemeClr val="tx1">
              <a:alpha val="34000"/>
            </a:schemeClr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/>
          </a:p>
        </p:txBody>
      </p:sp>
      <p:sp>
        <p:nvSpPr>
          <p:cNvPr id="5" name="标题占位符 1"/>
          <p:cNvSpPr txBox="1">
            <a:spLocks noChangeArrowheads="1"/>
          </p:cNvSpPr>
          <p:nvPr userDrawn="1"/>
        </p:nvSpPr>
        <p:spPr bwMode="auto">
          <a:xfrm>
            <a:off x="2253256" y="2996952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solidFill>
                  <a:schemeClr val="bg2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6" name="六边形 5"/>
          <p:cNvSpPr/>
          <p:nvPr userDrawn="1"/>
        </p:nvSpPr>
        <p:spPr>
          <a:xfrm rot="5400000">
            <a:off x="3851910" y="2263385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1756192" y="4240718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4200312" y="4499547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9" name="六边形 8"/>
          <p:cNvSpPr/>
          <p:nvPr userDrawn="1"/>
        </p:nvSpPr>
        <p:spPr>
          <a:xfrm rot="5400000">
            <a:off x="1748477" y="1829332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03912" y="1737082"/>
            <a:ext cx="5545063" cy="3384550"/>
          </a:xfrm>
          <a:prstGeom prst="rect">
            <a:avLst/>
          </a:prstGeom>
        </p:spPr>
        <p:txBody>
          <a:bodyPr anchor="ctr"/>
          <a:lstStyle>
            <a:lvl1pPr marL="457200" indent="-457200">
              <a:buFont typeface="Arial" panose="020B0604020202020204" pitchFamily="34" charset="0"/>
              <a:buChar char="•"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1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2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3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4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5</a:t>
            </a:r>
            <a:endParaRPr lang="zh-CN" altLang="en-US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14996" y="561920"/>
            <a:ext cx="1228476" cy="528956"/>
            <a:chOff x="852891" y="1026849"/>
            <a:chExt cx="1228476" cy="528956"/>
          </a:xfrm>
        </p:grpSpPr>
        <p:sp>
          <p:nvSpPr>
            <p:cNvPr id="4" name="矩形 3"/>
            <p:cNvSpPr/>
            <p:nvPr userDrawn="1"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  <p:sp>
          <p:nvSpPr>
            <p:cNvPr id="5" name="六边形 4"/>
            <p:cNvSpPr/>
            <p:nvPr userDrawn="1"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  <p:pic>
          <p:nvPicPr>
            <p:cNvPr id="6" name="图形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7" name="TextBox 2"/>
            <p:cNvSpPr txBox="1">
              <a:spLocks noChangeArrowheads="1"/>
            </p:cNvSpPr>
            <p:nvPr userDrawn="1"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chemeClr val="bg2">
                      <a:lumMod val="9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</a:p>
          </p:txBody>
        </p:sp>
      </p:grpSp>
      <p:sp>
        <p:nvSpPr>
          <p:cNvPr id="10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431864" y="666408"/>
            <a:ext cx="4968800" cy="431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练习标题，阿里巴巴普惠体 </a:t>
            </a:r>
            <a:r>
              <a:rPr lang="en-US" altLang="zh-CN" dirty="0"/>
              <a:t>Medium 20</a:t>
            </a:r>
            <a:r>
              <a:rPr lang="zh-CN" altLang="en-US" dirty="0"/>
              <a:t>号</a:t>
            </a:r>
          </a:p>
        </p:txBody>
      </p:sp>
      <p:sp>
        <p:nvSpPr>
          <p:cNvPr id="13" name="文本占位符 18"/>
          <p:cNvSpPr>
            <a:spLocks noGrp="1"/>
          </p:cNvSpPr>
          <p:nvPr>
            <p:ph type="body" sz="quarter" idx="11" hasCustomPrompt="1"/>
          </p:nvPr>
        </p:nvSpPr>
        <p:spPr>
          <a:xfrm>
            <a:off x="1431864" y="1412776"/>
            <a:ext cx="10209274" cy="478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练习内容，阿里巴巴普惠体 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14996" y="561920"/>
            <a:ext cx="1228476" cy="528956"/>
            <a:chOff x="852891" y="1026849"/>
            <a:chExt cx="1228476" cy="528956"/>
          </a:xfrm>
        </p:grpSpPr>
        <p:sp>
          <p:nvSpPr>
            <p:cNvPr id="4" name="矩形 3"/>
            <p:cNvSpPr/>
            <p:nvPr userDrawn="1"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  <p:sp>
          <p:nvSpPr>
            <p:cNvPr id="5" name="六边形 4"/>
            <p:cNvSpPr/>
            <p:nvPr userDrawn="1"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  <p:pic>
          <p:nvPicPr>
            <p:cNvPr id="6" name="图形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7" name="TextBox 2"/>
            <p:cNvSpPr txBox="1">
              <a:spLocks noChangeArrowheads="1"/>
            </p:cNvSpPr>
            <p:nvPr userDrawn="1"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chemeClr val="bg2">
                      <a:lumMod val="9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</a:p>
          </p:txBody>
        </p:sp>
      </p:grpSp>
      <p:sp>
        <p:nvSpPr>
          <p:cNvPr id="10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431864" y="666408"/>
            <a:ext cx="4968800" cy="431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案例标题，阿里巴巴普惠体 </a:t>
            </a:r>
            <a:r>
              <a:rPr lang="en-US" altLang="zh-CN" dirty="0"/>
              <a:t>Medium 20</a:t>
            </a:r>
            <a:r>
              <a:rPr lang="zh-CN" altLang="en-US" dirty="0"/>
              <a:t>号</a:t>
            </a:r>
          </a:p>
        </p:txBody>
      </p:sp>
      <p:sp>
        <p:nvSpPr>
          <p:cNvPr id="11" name="文本占位符 18"/>
          <p:cNvSpPr>
            <a:spLocks noGrp="1"/>
          </p:cNvSpPr>
          <p:nvPr>
            <p:ph type="body" sz="quarter" idx="11" hasCustomPrompt="1"/>
          </p:nvPr>
        </p:nvSpPr>
        <p:spPr>
          <a:xfrm>
            <a:off x="1431864" y="1412776"/>
            <a:ext cx="10209274" cy="478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案例内容，阿里巴巴普惠体 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 flipV="1">
            <a:off x="6096000" y="2924944"/>
            <a:ext cx="0" cy="88819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6456040" y="2924944"/>
            <a:ext cx="4391793" cy="102076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2" hasCustomPrompt="1"/>
          </p:nvPr>
        </p:nvSpPr>
        <p:spPr>
          <a:xfrm>
            <a:off x="3777012" y="2817019"/>
            <a:ext cx="2160239" cy="122396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7200" spc="33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 Heavy" panose="00020600040101010101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金色电路板电路图"/>
          <p:cNvPicPr>
            <a:picLocks noChangeAspect="1" noChangeArrowheads="1"/>
          </p:cNvPicPr>
          <p:nvPr userDrawn="1"/>
        </p:nvPicPr>
        <p:blipFill>
          <a:blip r:embed="rId2">
            <a:alphaModFix amt="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259" y="884321"/>
            <a:ext cx="6267450" cy="626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9"/>
          <p:cNvCxnSpPr/>
          <p:nvPr userDrawn="1"/>
        </p:nvCxnSpPr>
        <p:spPr>
          <a:xfrm flipV="1">
            <a:off x="6096000" y="2924944"/>
            <a:ext cx="0" cy="88819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6456040" y="2924944"/>
            <a:ext cx="4391793" cy="102076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2" hasCustomPrompt="1"/>
          </p:nvPr>
        </p:nvSpPr>
        <p:spPr>
          <a:xfrm>
            <a:off x="3777012" y="2817019"/>
            <a:ext cx="2160239" cy="122396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7200" spc="33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 Heavy" panose="00020600040101010101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六边形 29"/>
          <p:cNvSpPr/>
          <p:nvPr userDrawn="1"/>
        </p:nvSpPr>
        <p:spPr>
          <a:xfrm rot="5400000">
            <a:off x="8572515" y="-294557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4" name="六边形 3"/>
          <p:cNvSpPr/>
          <p:nvPr userDrawn="1"/>
        </p:nvSpPr>
        <p:spPr>
          <a:xfrm rot="5400000">
            <a:off x="9421227" y="703565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5" name="六边形 4"/>
          <p:cNvSpPr/>
          <p:nvPr userDrawn="1"/>
        </p:nvSpPr>
        <p:spPr>
          <a:xfrm rot="5400000">
            <a:off x="7928093" y="946634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6" name="六边形 5"/>
          <p:cNvSpPr/>
          <p:nvPr userDrawn="1"/>
        </p:nvSpPr>
        <p:spPr>
          <a:xfrm rot="5400000">
            <a:off x="10187726" y="90571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584868" y="843374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11166406" y="1174793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9" name="六边形 8"/>
          <p:cNvSpPr/>
          <p:nvPr userDrawn="1"/>
        </p:nvSpPr>
        <p:spPr>
          <a:xfrm rot="5400000">
            <a:off x="818639" y="626177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4465065" y="725269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cxnSp>
        <p:nvCxnSpPr>
          <p:cNvPr id="12" name="直线连接符 21"/>
          <p:cNvCxnSpPr/>
          <p:nvPr userDrawn="1"/>
        </p:nvCxnSpPr>
        <p:spPr>
          <a:xfrm>
            <a:off x="9897362" y="1080890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22"/>
          <p:cNvCxnSpPr/>
          <p:nvPr userDrawn="1"/>
        </p:nvCxnSpPr>
        <p:spPr>
          <a:xfrm>
            <a:off x="3798565" y="415917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电路板"/>
          <p:cNvPicPr>
            <a:picLocks noChangeAspect="1" noChangeArrowheads="1"/>
          </p:cNvPicPr>
          <p:nvPr userDrawn="1"/>
        </p:nvPicPr>
        <p:blipFill>
          <a:blip r:embed="rId3">
            <a:alphaModFix amt="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7184" y="-1539552"/>
            <a:ext cx="9468319" cy="94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金色电路板电路图"/>
          <p:cNvPicPr>
            <a:picLocks noChangeAspect="1" noChangeArrowheads="1"/>
          </p:cNvPicPr>
          <p:nvPr userDrawn="1"/>
        </p:nvPicPr>
        <p:blipFill>
          <a:blip r:embed="rId2">
            <a:alphaModFix amt="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259" y="884321"/>
            <a:ext cx="6267450" cy="626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9"/>
          <p:cNvCxnSpPr/>
          <p:nvPr userDrawn="1"/>
        </p:nvCxnSpPr>
        <p:spPr>
          <a:xfrm flipV="1">
            <a:off x="6096000" y="2924944"/>
            <a:ext cx="0" cy="88819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6456040" y="2924944"/>
            <a:ext cx="4391793" cy="102076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2" hasCustomPrompt="1"/>
          </p:nvPr>
        </p:nvSpPr>
        <p:spPr>
          <a:xfrm>
            <a:off x="3777012" y="2817019"/>
            <a:ext cx="2160239" cy="122396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7200" spc="33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 Heavy" panose="00020600040101010101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六边形 29"/>
          <p:cNvSpPr/>
          <p:nvPr userDrawn="1"/>
        </p:nvSpPr>
        <p:spPr>
          <a:xfrm rot="5400000">
            <a:off x="8572515" y="-294557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4" name="六边形 3"/>
          <p:cNvSpPr/>
          <p:nvPr userDrawn="1"/>
        </p:nvSpPr>
        <p:spPr>
          <a:xfrm rot="5400000">
            <a:off x="9421227" y="703565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5" name="六边形 4"/>
          <p:cNvSpPr/>
          <p:nvPr userDrawn="1"/>
        </p:nvSpPr>
        <p:spPr>
          <a:xfrm rot="5400000">
            <a:off x="7928093" y="946634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6" name="六边形 5"/>
          <p:cNvSpPr/>
          <p:nvPr userDrawn="1"/>
        </p:nvSpPr>
        <p:spPr>
          <a:xfrm rot="5400000">
            <a:off x="10187726" y="90571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11166406" y="1174793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cxnSp>
        <p:nvCxnSpPr>
          <p:cNvPr id="12" name="直线连接符 21"/>
          <p:cNvCxnSpPr/>
          <p:nvPr userDrawn="1"/>
        </p:nvCxnSpPr>
        <p:spPr>
          <a:xfrm>
            <a:off x="9897362" y="1080890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电路板图片-电路板设计素材-电路板素材免费下载-第2页-万素网"/>
          <p:cNvPicPr>
            <a:picLocks noChangeAspect="1" noChangeArrowheads="1"/>
          </p:cNvPicPr>
          <p:nvPr userDrawn="1"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96000" y="2492896"/>
            <a:ext cx="1808373" cy="167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六边形 27"/>
          <p:cNvSpPr/>
          <p:nvPr userDrawn="1"/>
        </p:nvSpPr>
        <p:spPr>
          <a:xfrm rot="5400000">
            <a:off x="3867889" y="658873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29" name="六边形 28"/>
          <p:cNvSpPr/>
          <p:nvPr userDrawn="1"/>
        </p:nvSpPr>
        <p:spPr>
          <a:xfrm rot="5400000">
            <a:off x="1101660" y="441676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4748086" y="540768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cxnSp>
        <p:nvCxnSpPr>
          <p:cNvPr id="31" name="直线连接符 22"/>
          <p:cNvCxnSpPr/>
          <p:nvPr userDrawn="1"/>
        </p:nvCxnSpPr>
        <p:spPr>
          <a:xfrm>
            <a:off x="4081586" y="231416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7745" y="334205"/>
            <a:ext cx="4968800" cy="431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Alibaba PuHuiTi Bold" panose="00020600040101010101" charset="-122"/>
                <a:cs typeface="Alibaba PuHuiTi Bold" panose="00020600040101010101" charset="-122"/>
              </a:defRPr>
            </a:lvl1pPr>
          </a:lstStyle>
          <a:p>
            <a:pPr lvl="0"/>
            <a:r>
              <a:rPr lang="zh-CN" altLang="en-US" dirty="0"/>
              <a:t>正文标题，阿里巴巴普惠体 </a:t>
            </a:r>
            <a:r>
              <a:rPr lang="en-US" altLang="zh-CN" dirty="0"/>
              <a:t>Medium 20</a:t>
            </a:r>
            <a:r>
              <a:rPr lang="zh-CN" altLang="en-US" dirty="0"/>
              <a:t>号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124744"/>
            <a:ext cx="11161713" cy="50759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正文内容，阿里巴巴普惠体 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0" y="334010"/>
            <a:ext cx="251460" cy="3683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764540"/>
            <a:ext cx="1182751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26" name="Picture 2" descr="DIY电路线路"/>
          <p:cNvPicPr>
            <a:picLocks noChangeAspect="1" noChangeArrowheads="1"/>
          </p:cNvPicPr>
          <p:nvPr userDrawn="1"/>
        </p:nvPicPr>
        <p:blipFill>
          <a:blip r:embed="rId2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4534" y="-804184"/>
            <a:ext cx="12661068" cy="846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7745" y="334205"/>
            <a:ext cx="4968800" cy="431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Alibaba PuHuiTi Bold" panose="00020600040101010101" charset="-122"/>
                <a:cs typeface="Alibaba PuHuiTi Bold" panose="00020600040101010101" charset="-122"/>
              </a:defRPr>
            </a:lvl1pPr>
          </a:lstStyle>
          <a:p>
            <a:pPr lvl="0"/>
            <a:r>
              <a:rPr lang="zh-CN" altLang="en-US" dirty="0"/>
              <a:t>正文标题，阿里巴巴普惠体 </a:t>
            </a:r>
            <a:r>
              <a:rPr lang="en-US" altLang="zh-CN" dirty="0"/>
              <a:t>Medium 20</a:t>
            </a:r>
            <a:r>
              <a:rPr lang="zh-CN" altLang="en-US" dirty="0"/>
              <a:t>号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124744"/>
            <a:ext cx="11161713" cy="50759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正文内容，阿里巴巴普惠体 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0" y="334010"/>
            <a:ext cx="251460" cy="3683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764540"/>
            <a:ext cx="1182751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50" name="Picture 2" descr="电路板图片-电路板设计素材-电路板素材免费下载-第2页-万素网"/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0456" y="4684053"/>
            <a:ext cx="2016224" cy="1866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7745" y="334205"/>
            <a:ext cx="4968800" cy="431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Alibaba PuHuiTi Bold" panose="00020600040101010101" charset="-122"/>
                <a:cs typeface="Alibaba PuHuiTi Bold" panose="00020600040101010101" charset="-122"/>
              </a:defRPr>
            </a:lvl1pPr>
          </a:lstStyle>
          <a:p>
            <a:pPr lvl="0"/>
            <a:r>
              <a:rPr lang="zh-CN" altLang="en-US" dirty="0"/>
              <a:t>正文标题，阿里巴巴普惠体 </a:t>
            </a:r>
            <a:r>
              <a:rPr lang="en-US" altLang="zh-CN" dirty="0"/>
              <a:t>Medium 20</a:t>
            </a:r>
            <a:r>
              <a:rPr lang="zh-CN" altLang="en-US" dirty="0"/>
              <a:t>号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124744"/>
            <a:ext cx="11161713" cy="50759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正文内容，阿里巴巴普惠体 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0" y="334010"/>
            <a:ext cx="251460" cy="3683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764540"/>
            <a:ext cx="1182751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098" name="Picture 2" descr="电路板芯片图片大全_电路板芯片图片素材【PNG免费下载】-90设计网"/>
          <p:cNvPicPr>
            <a:picLocks noChangeAspect="1" noChangeArrowheads="1"/>
          </p:cNvPicPr>
          <p:nvPr userDrawn="1"/>
        </p:nvPicPr>
        <p:blipFill>
          <a:blip r:embed="rId2" cstate="print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440" y="4659062"/>
            <a:ext cx="2207568" cy="1900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色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84580" y="332935"/>
            <a:ext cx="4968800" cy="431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accent3"/>
                </a:solidFill>
                <a:latin typeface="JetBrains Mono" panose="02000009000000000000" pitchFamily="49" charset="0"/>
                <a:ea typeface="Alibaba PuHuiTi Bold" panose="00020600040101010101" charset="-122"/>
                <a:cs typeface="Alibaba PuHuiTi Bold" panose="00020600040101010101" charset="-122"/>
              </a:defRPr>
            </a:lvl1pPr>
          </a:lstStyle>
          <a:p>
            <a:pPr lvl="0"/>
            <a:r>
              <a:rPr lang="zh-CN" altLang="en-US" dirty="0"/>
              <a:t>正文标题，思源宋体 </a:t>
            </a:r>
            <a:r>
              <a:rPr lang="en-US" altLang="zh-CN" dirty="0"/>
              <a:t>CN SemiBold 20</a:t>
            </a:r>
            <a:r>
              <a:rPr lang="zh-CN" altLang="en-US" dirty="0"/>
              <a:t>号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412776"/>
            <a:ext cx="11161713" cy="478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正文内容，阿里巴巴普惠 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0" y="334010"/>
            <a:ext cx="251460" cy="3683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764540"/>
            <a:ext cx="1182751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黑金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/>
          <p:cNvSpPr/>
          <p:nvPr userDrawn="1"/>
        </p:nvSpPr>
        <p:spPr>
          <a:xfrm>
            <a:off x="119336" y="764704"/>
            <a:ext cx="432048" cy="216024"/>
          </a:xfrm>
          <a:prstGeom prst="homePlate">
            <a:avLst/>
          </a:prstGeom>
          <a:solidFill>
            <a:srgbClr val="AD2A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V 形 7"/>
          <p:cNvSpPr/>
          <p:nvPr userDrawn="1"/>
        </p:nvSpPr>
        <p:spPr>
          <a:xfrm>
            <a:off x="479376" y="764704"/>
            <a:ext cx="324036" cy="216024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箭头: V 形 8"/>
          <p:cNvSpPr/>
          <p:nvPr userDrawn="1"/>
        </p:nvSpPr>
        <p:spPr>
          <a:xfrm>
            <a:off x="729086" y="764704"/>
            <a:ext cx="324036" cy="216024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127200" y="656785"/>
            <a:ext cx="4968800" cy="431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aseline="0">
                <a:solidFill>
                  <a:srgbClr val="EFCFBE"/>
                </a:solidFill>
                <a:latin typeface="JetBrains Mono" panose="02000009000000000000" pitchFamily="49" charset="0"/>
                <a:ea typeface="方正姚体" panose="02010601030101010101" pitchFamily="2" charset="-122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正文标题，方正姚体</a:t>
            </a:r>
            <a:r>
              <a:rPr lang="en-US" altLang="zh-CN" dirty="0"/>
              <a:t> 20</a:t>
            </a:r>
            <a:r>
              <a:rPr lang="zh-CN" altLang="en-US" dirty="0"/>
              <a:t>号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412776"/>
            <a:ext cx="11161713" cy="478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正文内容，阿里巴巴普惠体 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343472" y="1988840"/>
            <a:ext cx="3587349" cy="3036721"/>
            <a:chOff x="864135" y="2246295"/>
            <a:chExt cx="3587349" cy="3036721"/>
          </a:xfrm>
        </p:grpSpPr>
        <p:sp>
          <p:nvSpPr>
            <p:cNvPr id="4" name="椭圆 3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14300" cap="flat" cmpd="sng">
              <a:solidFill>
                <a:srgbClr val="C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8" name="椭圆 7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9" name="椭圆 8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0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5265090" y="1737082"/>
            <a:ext cx="5583885" cy="3384550"/>
          </a:xfrm>
          <a:prstGeom prst="rect">
            <a:avLst/>
          </a:prstGeom>
        </p:spPr>
        <p:txBody>
          <a:bodyPr anchor="ctr"/>
          <a:lstStyle>
            <a:lvl1pPr marL="457200" indent="-457200">
              <a:buFont typeface="Arial" panose="020B0604020202020204" pitchFamily="34" charset="0"/>
              <a:buChar char="•"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1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2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3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4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5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2" name="椭圆 1"/>
          <p:cNvSpPr/>
          <p:nvPr userDrawn="1"/>
        </p:nvSpPr>
        <p:spPr>
          <a:xfrm>
            <a:off x="1415340" y="1964349"/>
            <a:ext cx="576064" cy="576064"/>
          </a:xfrm>
          <a:prstGeom prst="ellipse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六边形 2"/>
          <p:cNvSpPr/>
          <p:nvPr userDrawn="1"/>
        </p:nvSpPr>
        <p:spPr>
          <a:xfrm rot="5400000">
            <a:off x="1499191" y="3621200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/>
          </a:p>
        </p:txBody>
      </p:sp>
      <p:sp>
        <p:nvSpPr>
          <p:cNvPr id="4" name="六边形 3"/>
          <p:cNvSpPr/>
          <p:nvPr userDrawn="1"/>
        </p:nvSpPr>
        <p:spPr>
          <a:xfrm rot="5400000">
            <a:off x="2041858" y="2641720"/>
            <a:ext cx="1944550" cy="1676336"/>
          </a:xfrm>
          <a:prstGeom prst="hexagon">
            <a:avLst/>
          </a:prstGeom>
          <a:solidFill>
            <a:schemeClr val="tx1">
              <a:alpha val="74000"/>
            </a:schemeClr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/>
          </a:p>
        </p:txBody>
      </p:sp>
      <p:sp>
        <p:nvSpPr>
          <p:cNvPr id="5" name="标题占位符 1"/>
          <p:cNvSpPr txBox="1">
            <a:spLocks noChangeArrowheads="1"/>
          </p:cNvSpPr>
          <p:nvPr userDrawn="1"/>
        </p:nvSpPr>
        <p:spPr bwMode="auto">
          <a:xfrm>
            <a:off x="2253256" y="2996952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solidFill>
                  <a:schemeClr val="bg2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6" name="六边形 5"/>
          <p:cNvSpPr/>
          <p:nvPr userDrawn="1"/>
        </p:nvSpPr>
        <p:spPr>
          <a:xfrm rot="5400000">
            <a:off x="3851910" y="2263385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1756192" y="4240718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4200312" y="4499547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9" name="六边形 8"/>
          <p:cNvSpPr/>
          <p:nvPr userDrawn="1"/>
        </p:nvSpPr>
        <p:spPr>
          <a:xfrm rot="5400000">
            <a:off x="1748477" y="1829332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03912" y="1737082"/>
            <a:ext cx="5545063" cy="3384550"/>
          </a:xfrm>
          <a:prstGeom prst="rect">
            <a:avLst/>
          </a:prstGeom>
        </p:spPr>
        <p:txBody>
          <a:bodyPr anchor="ctr"/>
          <a:lstStyle>
            <a:lvl1pPr marL="457200" indent="-457200">
              <a:buFont typeface="Arial" panose="020B0604020202020204" pitchFamily="34" charset="0"/>
              <a:buChar char="•"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1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2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3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4</a:t>
            </a:r>
          </a:p>
          <a:p>
            <a:pPr lvl="0"/>
            <a:r>
              <a:rPr lang="zh-CN" altLang="en-US" dirty="0"/>
              <a:t>请输入正文内容</a:t>
            </a:r>
            <a:r>
              <a:rPr lang="en-US" altLang="zh-CN" dirty="0"/>
              <a:t>5</a:t>
            </a:r>
            <a:endParaRPr lang="zh-CN" altLang="en-US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14996" y="561920"/>
            <a:ext cx="1228476" cy="528956"/>
            <a:chOff x="852891" y="1026849"/>
            <a:chExt cx="1228476" cy="528956"/>
          </a:xfrm>
        </p:grpSpPr>
        <p:sp>
          <p:nvSpPr>
            <p:cNvPr id="4" name="矩形 3"/>
            <p:cNvSpPr/>
            <p:nvPr userDrawn="1"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  <p:sp>
          <p:nvSpPr>
            <p:cNvPr id="5" name="六边形 4"/>
            <p:cNvSpPr/>
            <p:nvPr userDrawn="1"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  <p:pic>
          <p:nvPicPr>
            <p:cNvPr id="6" name="图形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7" name="TextBox 2"/>
            <p:cNvSpPr txBox="1">
              <a:spLocks noChangeArrowheads="1"/>
            </p:cNvSpPr>
            <p:nvPr userDrawn="1"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</a:p>
          </p:txBody>
        </p:sp>
      </p:grpSp>
      <p:sp>
        <p:nvSpPr>
          <p:cNvPr id="10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431864" y="666408"/>
            <a:ext cx="4968800" cy="431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练习标题，阿里巴巴普惠体 </a:t>
            </a:r>
            <a:r>
              <a:rPr lang="en-US" altLang="zh-CN" dirty="0"/>
              <a:t>Medium 20</a:t>
            </a:r>
            <a:r>
              <a:rPr lang="zh-CN" altLang="en-US" dirty="0"/>
              <a:t>号</a:t>
            </a:r>
          </a:p>
        </p:txBody>
      </p:sp>
      <p:sp>
        <p:nvSpPr>
          <p:cNvPr id="13" name="文本占位符 18"/>
          <p:cNvSpPr>
            <a:spLocks noGrp="1"/>
          </p:cNvSpPr>
          <p:nvPr>
            <p:ph type="body" sz="quarter" idx="11" hasCustomPrompt="1"/>
          </p:nvPr>
        </p:nvSpPr>
        <p:spPr>
          <a:xfrm>
            <a:off x="1431864" y="1412776"/>
            <a:ext cx="10209274" cy="478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练习内容，阿里巴巴普惠体 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14996" y="561920"/>
            <a:ext cx="1228476" cy="528956"/>
            <a:chOff x="852891" y="1026849"/>
            <a:chExt cx="1228476" cy="528956"/>
          </a:xfrm>
        </p:grpSpPr>
        <p:sp>
          <p:nvSpPr>
            <p:cNvPr id="4" name="矩形 3"/>
            <p:cNvSpPr/>
            <p:nvPr userDrawn="1"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  <p:sp>
          <p:nvSpPr>
            <p:cNvPr id="5" name="六边形 4"/>
            <p:cNvSpPr/>
            <p:nvPr userDrawn="1"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  <p:pic>
          <p:nvPicPr>
            <p:cNvPr id="6" name="图形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7" name="TextBox 2"/>
            <p:cNvSpPr txBox="1">
              <a:spLocks noChangeArrowheads="1"/>
            </p:cNvSpPr>
            <p:nvPr userDrawn="1"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</a:p>
          </p:txBody>
        </p:sp>
      </p:grpSp>
      <p:sp>
        <p:nvSpPr>
          <p:cNvPr id="10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1431864" y="666408"/>
            <a:ext cx="4968800" cy="4318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案例标题，阿里巴巴普惠体 </a:t>
            </a:r>
            <a:r>
              <a:rPr lang="en-US" altLang="zh-CN" dirty="0"/>
              <a:t>Medium 20</a:t>
            </a:r>
            <a:r>
              <a:rPr lang="zh-CN" altLang="en-US" dirty="0"/>
              <a:t>号</a:t>
            </a:r>
          </a:p>
        </p:txBody>
      </p:sp>
      <p:sp>
        <p:nvSpPr>
          <p:cNvPr id="11" name="文本占位符 18"/>
          <p:cNvSpPr>
            <a:spLocks noGrp="1"/>
          </p:cNvSpPr>
          <p:nvPr>
            <p:ph type="body" sz="quarter" idx="11" hasCustomPrompt="1"/>
          </p:nvPr>
        </p:nvSpPr>
        <p:spPr>
          <a:xfrm>
            <a:off x="1431864" y="1412776"/>
            <a:ext cx="10209274" cy="478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" panose="00020600040101010101" pitchFamily="18" charset="-122"/>
                <a:cs typeface="阿里巴巴普惠体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案例内容，阿里巴巴普惠体 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6759907"/>
            <a:ext cx="10057936" cy="11079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pic>
        <p:nvPicPr>
          <p:cNvPr id="1038" name="Picture 14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9710" y="188595"/>
            <a:ext cx="1450340" cy="4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12089765" y="1905"/>
            <a:ext cx="102235" cy="5467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4" name="任意形状 24"/>
          <p:cNvSpPr/>
          <p:nvPr userDrawn="1"/>
        </p:nvSpPr>
        <p:spPr>
          <a:xfrm>
            <a:off x="9636489" y="6559928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1D2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5" name="矩形 14"/>
          <p:cNvSpPr/>
          <p:nvPr userDrawn="1"/>
        </p:nvSpPr>
        <p:spPr bwMode="auto">
          <a:xfrm>
            <a:off x="9837717" y="6559928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1E38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894570" y="6560185"/>
            <a:ext cx="2379980" cy="2755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高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级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数 字 化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人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才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培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训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专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家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6759907"/>
            <a:ext cx="10057936" cy="11079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12089765" y="1905"/>
            <a:ext cx="102235" cy="5467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4" name="任意形状 24"/>
          <p:cNvSpPr/>
          <p:nvPr userDrawn="1"/>
        </p:nvSpPr>
        <p:spPr>
          <a:xfrm>
            <a:off x="9636489" y="6559928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1D2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5" name="矩形 14"/>
          <p:cNvSpPr/>
          <p:nvPr userDrawn="1"/>
        </p:nvSpPr>
        <p:spPr bwMode="auto">
          <a:xfrm>
            <a:off x="9837717" y="6559928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1E38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872345" y="6560185"/>
            <a:ext cx="2402205" cy="2755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高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级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数 字 化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人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才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培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训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专</a:t>
            </a:r>
            <a:r>
              <a:rPr lang="en-US" altLang="zh-CN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Alibaba PuHuiTi Regular" panose="00020600040101010101" charset="-122"/>
                <a:ea typeface="Alibaba PuHuiTi Regular" panose="00020600040101010101" charset="-122"/>
                <a:cs typeface="阿里巴巴普惠体" panose="00020600040101010101" pitchFamily="18" charset="-122"/>
              </a:rPr>
              <a:t>家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4513" y="-113909"/>
            <a:ext cx="1764054" cy="7783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>
                <a:solidFill>
                  <a:schemeClr val="tx1">
                    <a:lumMod val="85000"/>
                    <a:lumOff val="15000"/>
                  </a:schemeClr>
                </a:solidFill>
                <a:latin typeface="Source Code Pro Regular" panose="020B0309030403020204" charset="0"/>
                <a:ea typeface="方正姚体_GBK" panose="02000000000000000000" charset="-122"/>
                <a:cs typeface="Source Code Pro Regular" panose="020B0309030403020204" charset="0"/>
                <a:sym typeface="方正姚体_GBK" panose="02000000000000000000" charset="-122"/>
              </a:rPr>
              <a:t>项目简介</a:t>
            </a:r>
            <a:endParaRPr lang="zh-CN">
              <a:solidFill>
                <a:schemeClr val="tx1">
                  <a:lumMod val="85000"/>
                  <a:lumOff val="15000"/>
                </a:schemeClr>
              </a:solidFill>
              <a:latin typeface="方正姚体_GBK" panose="02000000000000000000" charset="-122"/>
              <a:ea typeface="方正姚体_GBK" panose="02000000000000000000" charset="-122"/>
              <a:cs typeface="方正姚体_GBK" panose="02000000000000000000" charset="-122"/>
              <a:sym typeface="方正姚体_GBK" panose="020000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338455" y="2205355"/>
            <a:ext cx="5598795" cy="1215390"/>
          </a:xfrm>
        </p:spPr>
        <p:txBody>
          <a:bodyPr/>
          <a:lstStyle/>
          <a:p>
            <a:pPr algn="ctr"/>
            <a:r>
              <a:rPr lang="en-US" altLang="zh-CN" sz="4800" b="1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  <a:tileRect l="-100000" t="-100000"/>
                </a:gradFill>
                <a:latin typeface="+mj-lt"/>
                <a:ea typeface="Songti SC Bold" panose="02010800040101010101" charset="-122"/>
                <a:cs typeface="+mj-lt"/>
              </a:rPr>
              <a:t>A</a:t>
            </a:r>
            <a:r>
              <a:rPr lang="en-US" altLang="zh-CN" sz="4400" b="1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  <a:tileRect l="-100000" t="-100000"/>
                </a:gradFill>
                <a:latin typeface="+mj-lt"/>
                <a:ea typeface="Songti SC Regular" panose="02010800040101010101" charset="-122"/>
                <a:cs typeface="+mj-lt"/>
              </a:rPr>
              <a:t>I</a:t>
            </a:r>
            <a:r>
              <a:rPr lang="zh-CN" altLang="en-US" sz="4400" b="1">
                <a:gradFill>
                  <a:gsLst>
                    <a:gs pos="0">
                      <a:srgbClr val="FDC7E9"/>
                    </a:gs>
                    <a:gs pos="100000">
                      <a:srgbClr val="0503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Yuanti SC Bold" panose="02010600040101010101" charset="-122"/>
                <a:ea typeface="Yuanti SC Bold" panose="02010600040101010101" charset="-122"/>
                <a:cs typeface="Songti SC Regular" panose="02010800040101010101" charset="-122"/>
              </a:rPr>
              <a:t>大模型</a:t>
            </a:r>
            <a:endParaRPr lang="zh-CN" altLang="en-US" sz="4400" b="1">
              <a:gradFill>
                <a:gsLst>
                  <a:gs pos="0">
                    <a:srgbClr val="70E1F5"/>
                  </a:gs>
                  <a:gs pos="97000">
                    <a:srgbClr val="FFD194"/>
                  </a:gs>
                </a:gsLst>
                <a:lin ang="0" scaled="1"/>
                <a:tileRect l="-100000" t="-100000"/>
              </a:gradFill>
              <a:latin typeface="Yuanti SC Bold" panose="02010600040101010101" charset="-122"/>
              <a:ea typeface="Yuanti SC Bold" panose="02010600040101010101" charset="-122"/>
              <a:cs typeface="Songti SC Regular" panose="020108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0275" y="4220845"/>
            <a:ext cx="4564380" cy="36830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i="1" u="sng" dirty="0">
                <a:latin typeface="+mj-ea"/>
                <a:ea typeface="+mj-ea"/>
                <a:cs typeface="+mj-ea"/>
              </a:rPr>
              <a:t>Part : RAG</a:t>
            </a:r>
            <a:r>
              <a:rPr lang="zh-CN" altLang="en-US" i="1" u="sng" dirty="0">
                <a:latin typeface="+mj-ea"/>
                <a:ea typeface="+mj-ea"/>
                <a:cs typeface="+mj-ea"/>
              </a:rPr>
              <a:t>实战项目</a:t>
            </a:r>
          </a:p>
        </p:txBody>
      </p:sp>
      <p:sp>
        <p:nvSpPr>
          <p:cNvPr id="3" name="文本占位符 4"/>
          <p:cNvSpPr>
            <a:spLocks noGrp="1"/>
          </p:cNvSpPr>
          <p:nvPr/>
        </p:nvSpPr>
        <p:spPr>
          <a:xfrm>
            <a:off x="337820" y="3005455"/>
            <a:ext cx="5599430" cy="1215390"/>
          </a:xfrm>
          <a:prstGeom prst="rect">
            <a:avLst/>
          </a:prstGeom>
        </p:spPr>
        <p:txBody>
          <a:bodyPr vert="horz" anchor="ctr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200" kern="1200" spc="3300" baseline="0">
                <a:solidFill>
                  <a:schemeClr val="bg2">
                    <a:lumMod val="95000"/>
                  </a:schemeClr>
                </a:solidFill>
                <a:latin typeface="JetBrains Mono" panose="02000009000000000000" pitchFamily="49" charset="0"/>
                <a:ea typeface="阿里巴巴普惠体 Heavy" panose="0002060004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4400" spc="0">
                <a:gradFill>
                  <a:gsLst>
                    <a:gs pos="0">
                      <a:srgbClr val="70E1F5"/>
                    </a:gs>
                    <a:gs pos="97000">
                      <a:srgbClr val="FFD194"/>
                    </a:gs>
                  </a:gsLst>
                  <a:lin ang="0" scaled="1"/>
                  <a:tileRect l="-100000" t="-100000"/>
                </a:gradFill>
                <a:ea typeface="阿里巴巴普惠体" panose="00020600040101010101" pitchFamily="18" charset="-122"/>
                <a:cs typeface="JetBrains Mono" panose="02000009000000000000" pitchFamily="49" charset="0"/>
              </a:rPr>
              <a:t>RAG</a:t>
            </a:r>
            <a:r>
              <a:rPr lang="zh-CN" altLang="en-US" sz="4400" spc="0">
                <a:gradFill>
                  <a:gsLst>
                    <a:gs pos="0">
                      <a:srgbClr val="70E1F5"/>
                    </a:gs>
                    <a:gs pos="97000">
                      <a:srgbClr val="FFD194"/>
                    </a:gs>
                  </a:gsLst>
                  <a:lin ang="0" scaled="1"/>
                  <a:tileRect l="-100000" t="-100000"/>
                </a:gra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与智能体开发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A0A10"/>
                </a:solidFill>
                <a:uFillTx/>
                <a:latin typeface="JetBrains Mono Bold" panose="02000009000000000000" charset="0"/>
              </a:rPr>
              <a:t>RAG</a:t>
            </a:r>
            <a:r>
              <a:rPr lang="zh-CN" altLang="en-US">
                <a:solidFill>
                  <a:srgbClr val="0A0A10"/>
                </a:solidFill>
                <a:uFillTx/>
                <a:latin typeface="JetBrains Mono Bold" panose="02000009000000000000" charset="0"/>
              </a:rPr>
              <a:t>回顾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>
              <a:buClrTx/>
              <a:buSzTx/>
              <a:buFont typeface="Arial" panose="020B0604020202020204" pitchFamily="34" charset="0"/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RAG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即检索、增强和生成，其主要分为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2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条线：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uFillTx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离线处理：向私有知识库（向量存储）源源不断添加私有知识文档。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971550" lvl="1" indent="-285750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</a:rPr>
              <a:t>向知识库添加来自未来的知识文档（基于模型训练完成时间）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</a:endParaRPr>
          </a:p>
          <a:p>
            <a:pPr marL="971550" lvl="1" indent="-285750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</a:rPr>
              <a:t>向模型添加私有知识文档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</a:endParaRPr>
          </a:p>
          <a:p>
            <a:pPr marL="971550" lvl="1" indent="-285750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</a:rPr>
              <a:t>给出模型参考资料，规避模型幻觉（一本正经的胡说八道）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在线处理：用户提问会先基于私有知识库做检索，获取参考资料，同步组装新提示词询问大模型获取结果。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801620" y="3140968"/>
            <a:ext cx="6517005" cy="3218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>
                <a:solidFill>
                  <a:srgbClr val="0A0A10"/>
                </a:solidFill>
                <a:uFillTx/>
                <a:latin typeface="JetBrains Mono Bold" panose="02000009000000000000" charset="0"/>
              </a:rPr>
              <a:t>项目需求和思路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79425" y="1124585"/>
            <a:ext cx="11162030" cy="2015490"/>
          </a:xfrm>
        </p:spPr>
        <p:txBody>
          <a:bodyPr/>
          <a:lstStyle/>
          <a:p>
            <a:pPr algn="l">
              <a:buClrTx/>
              <a:buSzTx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本次项目以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"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某东商品衣服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"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为例，以衣服属性构建本地知识。使用者可以</a:t>
            </a:r>
            <a:r>
              <a:rPr lang="zh-CN" altLang="en-US" sz="1600" b="1">
                <a:solidFill>
                  <a:srgbClr val="C00000"/>
                </a:solidFill>
                <a:uFillTx/>
              </a:rPr>
              <a:t>自由更新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本地知识，用户问题的答案也是</a:t>
            </a:r>
            <a:r>
              <a:rPr lang="zh-CN" altLang="en-US" sz="1600" b="1">
                <a:solidFill>
                  <a:srgbClr val="C00000"/>
                </a:solidFill>
                <a:uFillTx/>
              </a:rPr>
              <a:t>基于本地知识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生成的。</a:t>
            </a: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551180" y="2210435"/>
            <a:ext cx="5881370" cy="29051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07670" y="2061210"/>
            <a:ext cx="11233785" cy="1367790"/>
          </a:xfrm>
          <a:prstGeom prst="rect">
            <a:avLst/>
          </a:prstGeom>
          <a:ln w="28575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088255" y="172402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离线流程</a:t>
            </a:r>
          </a:p>
        </p:txBody>
      </p:sp>
      <p:sp>
        <p:nvSpPr>
          <p:cNvPr id="8" name="矩形 7"/>
          <p:cNvSpPr/>
          <p:nvPr/>
        </p:nvSpPr>
        <p:spPr>
          <a:xfrm>
            <a:off x="6600190" y="2493010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本地知识文件</a:t>
            </a:r>
          </a:p>
          <a:p>
            <a:pPr algn="ctr"/>
            <a:r>
              <a:rPr lang="zh-CN" altLang="en-US" sz="1400"/>
              <a:t>加载和读取</a:t>
            </a:r>
          </a:p>
        </p:txBody>
      </p:sp>
      <p:sp>
        <p:nvSpPr>
          <p:cNvPr id="9" name="矩形 8"/>
          <p:cNvSpPr/>
          <p:nvPr/>
        </p:nvSpPr>
        <p:spPr>
          <a:xfrm>
            <a:off x="8256270" y="2493010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文本切分</a:t>
            </a:r>
          </a:p>
        </p:txBody>
      </p:sp>
      <p:sp>
        <p:nvSpPr>
          <p:cNvPr id="10" name="矩形 9"/>
          <p:cNvSpPr/>
          <p:nvPr/>
        </p:nvSpPr>
        <p:spPr>
          <a:xfrm>
            <a:off x="9912350" y="2493010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向量数据库</a:t>
            </a:r>
          </a:p>
        </p:txBody>
      </p:sp>
      <p:sp>
        <p:nvSpPr>
          <p:cNvPr id="11" name="矩形 10"/>
          <p:cNvSpPr/>
          <p:nvPr/>
        </p:nvSpPr>
        <p:spPr>
          <a:xfrm>
            <a:off x="407035" y="3500755"/>
            <a:ext cx="11233785" cy="1733550"/>
          </a:xfrm>
          <a:prstGeom prst="rect">
            <a:avLst/>
          </a:prstGeom>
          <a:ln w="28575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088255" y="5242560"/>
            <a:ext cx="4064000" cy="426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在线流程</a:t>
            </a:r>
          </a:p>
        </p:txBody>
      </p:sp>
      <p:sp>
        <p:nvSpPr>
          <p:cNvPr id="13" name="矩形 12"/>
          <p:cNvSpPr/>
          <p:nvPr/>
        </p:nvSpPr>
        <p:spPr>
          <a:xfrm>
            <a:off x="6600190" y="3716655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Query</a:t>
            </a:r>
            <a:r>
              <a:rPr lang="zh-CN" altLang="en-US" sz="1400"/>
              <a:t>向量化</a:t>
            </a:r>
          </a:p>
        </p:txBody>
      </p:sp>
      <p:sp>
        <p:nvSpPr>
          <p:cNvPr id="14" name="矩形 13"/>
          <p:cNvSpPr/>
          <p:nvPr/>
        </p:nvSpPr>
        <p:spPr>
          <a:xfrm>
            <a:off x="8256270" y="3716655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向量匹配</a:t>
            </a:r>
          </a:p>
        </p:txBody>
      </p:sp>
      <p:sp>
        <p:nvSpPr>
          <p:cNvPr id="15" name="矩形 14"/>
          <p:cNvSpPr/>
          <p:nvPr/>
        </p:nvSpPr>
        <p:spPr>
          <a:xfrm>
            <a:off x="9912350" y="3716655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工程</a:t>
            </a:r>
          </a:p>
        </p:txBody>
      </p:sp>
      <p:sp>
        <p:nvSpPr>
          <p:cNvPr id="16" name="矩形 15"/>
          <p:cNvSpPr/>
          <p:nvPr/>
        </p:nvSpPr>
        <p:spPr>
          <a:xfrm>
            <a:off x="6600190" y="4436745"/>
            <a:ext cx="482409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提交</a:t>
            </a:r>
            <a:r>
              <a:rPr lang="en-US" altLang="zh-CN" sz="1400"/>
              <a:t>LLM</a:t>
            </a:r>
            <a:r>
              <a:rPr lang="zh-CN" altLang="en-US" sz="1400"/>
              <a:t>生成答案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  <p:bldP spid="8" grpId="0" bldLvl="0" animBg="1"/>
      <p:bldP spid="8" grpId="1" animBg="1"/>
      <p:bldP spid="9" grpId="0" bldLvl="0" animBg="1"/>
      <p:bldP spid="9" grpId="1" animBg="1"/>
      <p:bldP spid="10" grpId="0" bldLvl="0" animBg="1"/>
      <p:bldP spid="10" grpId="1" animBg="1"/>
      <p:bldP spid="11" grpId="0" bldLvl="0" animBg="1"/>
      <p:bldP spid="11" grpId="1" animBg="1"/>
      <p:bldP spid="12" grpId="0"/>
      <p:bldP spid="12" grpId="1"/>
      <p:bldP spid="13" grpId="0" bldLvl="0" animBg="1"/>
      <p:bldP spid="13" grpId="1" animBg="1"/>
      <p:bldP spid="14" grpId="0" bldLvl="0" animBg="1"/>
      <p:bldP spid="14" grpId="1" animBg="1"/>
      <p:bldP spid="15" grpId="0" bldLvl="0" animBg="1"/>
      <p:bldP spid="15" grpId="1" animBg="1"/>
      <p:bldP spid="16" grpId="0" bldLvl="0" animBg="1"/>
      <p:bldP spid="1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>
                <a:solidFill>
                  <a:srgbClr val="0A0A10"/>
                </a:solidFill>
                <a:uFillTx/>
                <a:latin typeface="JetBrains Mono Bold" panose="02000009000000000000" charset="0"/>
              </a:rPr>
              <a:t>项目需求和思路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79425" y="1124585"/>
            <a:ext cx="11162030" cy="2015490"/>
          </a:xfrm>
        </p:spPr>
        <p:txBody>
          <a:bodyPr/>
          <a:lstStyle/>
          <a:p>
            <a:pPr algn="l">
              <a:buClrTx/>
              <a:buSzTx/>
            </a:pPr>
            <a:r>
              <a:rPr lang="zh-CN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项目主要会实现如下代码：</a:t>
            </a:r>
          </a:p>
        </p:txBody>
      </p:sp>
      <p:sp>
        <p:nvSpPr>
          <p:cNvPr id="17" name="矩形 16"/>
          <p:cNvSpPr/>
          <p:nvPr/>
        </p:nvSpPr>
        <p:spPr>
          <a:xfrm>
            <a:off x="3183253" y="1448117"/>
            <a:ext cx="2819022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app_file_upload.py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523087" y="1532196"/>
            <a:ext cx="5970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知识库更新主程序（</a:t>
            </a:r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streamlit</a:t>
            </a:r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）</a:t>
            </a:r>
          </a:p>
        </p:txBody>
      </p:sp>
      <p:sp>
        <p:nvSpPr>
          <p:cNvPr id="19" name="矩形 18"/>
          <p:cNvSpPr/>
          <p:nvPr/>
        </p:nvSpPr>
        <p:spPr>
          <a:xfrm>
            <a:off x="3183254" y="2096452"/>
            <a:ext cx="2819022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app_qa.py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523087" y="2180531"/>
            <a:ext cx="5970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项目主程序（</a:t>
            </a:r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streamlit</a:t>
            </a:r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），启动对话</a:t>
            </a:r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WEB</a:t>
            </a:r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页面</a:t>
            </a:r>
            <a:endParaRPr lang="en-US" altLang="zh-CN" sz="1600">
              <a:latin typeface="JetBrains Mono" panose="02000009000000000000" pitchFamily="49" charset="0"/>
              <a:ea typeface="阿里巴巴普惠体" panose="00020600040101010101" pitchFamily="18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183253" y="2744787"/>
            <a:ext cx="2819023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config_data.py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528048" y="2828866"/>
            <a:ext cx="5970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配置文件</a:t>
            </a:r>
          </a:p>
        </p:txBody>
      </p:sp>
      <p:sp>
        <p:nvSpPr>
          <p:cNvPr id="23" name="矩形 22"/>
          <p:cNvSpPr/>
          <p:nvPr/>
        </p:nvSpPr>
        <p:spPr>
          <a:xfrm>
            <a:off x="3183254" y="3393122"/>
            <a:ext cx="2819021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file_history_store.py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528048" y="3477201"/>
            <a:ext cx="5970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长期会话记忆存储服务</a:t>
            </a:r>
          </a:p>
        </p:txBody>
      </p:sp>
      <p:sp>
        <p:nvSpPr>
          <p:cNvPr id="25" name="矩形 24"/>
          <p:cNvSpPr/>
          <p:nvPr/>
        </p:nvSpPr>
        <p:spPr>
          <a:xfrm>
            <a:off x="3183254" y="4041457"/>
            <a:ext cx="2819021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knowledge_base.py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528048" y="4125536"/>
            <a:ext cx="5970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知识库更新服务</a:t>
            </a:r>
            <a:endParaRPr lang="en-US" altLang="zh-CN" sz="1400" i="1">
              <a:solidFill>
                <a:schemeClr val="accent1"/>
              </a:solidFill>
              <a:latin typeface="JetBrains Mono" panose="02000009000000000000" pitchFamily="49" charset="0"/>
              <a:ea typeface="阿里巴巴普惠体" panose="00020600040101010101" pitchFamily="18" charset="-122"/>
            </a:endParaRPr>
          </a:p>
        </p:txBody>
      </p:sp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F2A52432-4D44-A61C-139A-D9663A367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45" y="1811654"/>
            <a:ext cx="2143125" cy="36671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00187DB-8E03-E4B7-56EE-06091265CCBF}"/>
              </a:ext>
            </a:extLst>
          </p:cNvPr>
          <p:cNvSpPr/>
          <p:nvPr/>
        </p:nvSpPr>
        <p:spPr>
          <a:xfrm>
            <a:off x="3183254" y="4689792"/>
            <a:ext cx="2819021" cy="504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rag.py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48E11C-7C18-054C-FF52-2D800E1C235A}"/>
              </a:ext>
            </a:extLst>
          </p:cNvPr>
          <p:cNvSpPr/>
          <p:nvPr/>
        </p:nvSpPr>
        <p:spPr>
          <a:xfrm>
            <a:off x="3190522" y="5336857"/>
            <a:ext cx="2819021" cy="504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vector_stores.py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3127E-0B9E-F62D-0407-36B3D055DF35}"/>
              </a:ext>
            </a:extLst>
          </p:cNvPr>
          <p:cNvSpPr txBox="1"/>
          <p:nvPr/>
        </p:nvSpPr>
        <p:spPr>
          <a:xfrm>
            <a:off x="6523087" y="4772610"/>
            <a:ext cx="5970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rag</a:t>
            </a:r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核心服务</a:t>
            </a:r>
            <a:endParaRPr lang="en-US" altLang="zh-CN" sz="1400" i="1">
              <a:solidFill>
                <a:schemeClr val="accent1"/>
              </a:solidFill>
              <a:latin typeface="JetBrains Mono" panose="02000009000000000000" pitchFamily="49" charset="0"/>
              <a:ea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51C13D-A184-4FDF-E9E9-196A79BAEEEB}"/>
              </a:ext>
            </a:extLst>
          </p:cNvPr>
          <p:cNvSpPr txBox="1"/>
          <p:nvPr/>
        </p:nvSpPr>
        <p:spPr>
          <a:xfrm>
            <a:off x="6523086" y="5419684"/>
            <a:ext cx="5970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向量存储服务</a:t>
            </a:r>
            <a:endParaRPr lang="en-US" altLang="zh-CN" sz="1400" i="1">
              <a:solidFill>
                <a:schemeClr val="accent1"/>
              </a:solidFill>
              <a:latin typeface="JetBrains Mono" panose="02000009000000000000" pitchFamily="49" charset="0"/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324B9-421A-B54E-6343-35CA97CD3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67F6E88-D1D1-9445-2218-052B9D068D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>
                <a:solidFill>
                  <a:srgbClr val="0A0A10"/>
                </a:solidFill>
                <a:uFillTx/>
                <a:latin typeface="JetBrains Mono Bold" panose="02000009000000000000" charset="0"/>
              </a:rPr>
              <a:t>项目需求和思路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9795F97-5021-2A07-3F3E-76458AFF3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393" y="1418981"/>
            <a:ext cx="6120303" cy="402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63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8CD4A-FEE1-3AD8-719C-854489912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641A3CA-450A-4ABA-F275-334B51FF15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>
                <a:solidFill>
                  <a:srgbClr val="0A0A10"/>
                </a:solidFill>
                <a:uFillTx/>
                <a:latin typeface="JetBrains Mono Bold" panose="02000009000000000000" charset="0"/>
              </a:rPr>
              <a:t>项目需求和思路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5A9320-5517-BA74-3524-B80A8CF56C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425" y="1124585"/>
            <a:ext cx="11162030" cy="2015490"/>
          </a:xfrm>
        </p:spPr>
        <p:txBody>
          <a:bodyPr/>
          <a:lstStyle/>
          <a:p>
            <a:pPr algn="l">
              <a:buClrTx/>
              <a:buSzTx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本次项目以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"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某东商品衣服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"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为例，以衣服属性构建本地知识。使用者可以</a:t>
            </a:r>
            <a:r>
              <a:rPr lang="zh-CN" altLang="en-US" sz="1600" b="1">
                <a:solidFill>
                  <a:srgbClr val="C00000"/>
                </a:solidFill>
                <a:uFillTx/>
              </a:rPr>
              <a:t>自由更新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本地知识，用户问题的答案也是</a:t>
            </a:r>
            <a:r>
              <a:rPr lang="zh-CN" altLang="en-US" sz="1600" b="1">
                <a:solidFill>
                  <a:srgbClr val="C00000"/>
                </a:solidFill>
                <a:uFillTx/>
              </a:rPr>
              <a:t>基于本地知识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生成的。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6C12F1-BE94-430D-7860-2FF7CD7818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51180" y="2210435"/>
            <a:ext cx="5881370" cy="29051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28825EE-903F-A0D6-A2E9-09800F63A8ED}"/>
              </a:ext>
            </a:extLst>
          </p:cNvPr>
          <p:cNvSpPr/>
          <p:nvPr/>
        </p:nvSpPr>
        <p:spPr>
          <a:xfrm>
            <a:off x="407670" y="2061210"/>
            <a:ext cx="11233785" cy="1367790"/>
          </a:xfrm>
          <a:prstGeom prst="rect">
            <a:avLst/>
          </a:prstGeom>
          <a:ln w="28575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5604F2-8B81-75F9-FAD2-51BCC52AC6A1}"/>
              </a:ext>
            </a:extLst>
          </p:cNvPr>
          <p:cNvSpPr txBox="1"/>
          <p:nvPr/>
        </p:nvSpPr>
        <p:spPr>
          <a:xfrm>
            <a:off x="5088255" y="172402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离线流程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E5986A-A387-7539-57B3-BF79A8CFAC97}"/>
              </a:ext>
            </a:extLst>
          </p:cNvPr>
          <p:cNvSpPr/>
          <p:nvPr/>
        </p:nvSpPr>
        <p:spPr>
          <a:xfrm>
            <a:off x="6600190" y="2493010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本地知识文件</a:t>
            </a:r>
          </a:p>
          <a:p>
            <a:pPr algn="ctr"/>
            <a:r>
              <a:rPr lang="zh-CN" altLang="en-US" sz="1400"/>
              <a:t>加载和读取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9EE463-2E4C-54FA-2097-838D9EF4C000}"/>
              </a:ext>
            </a:extLst>
          </p:cNvPr>
          <p:cNvSpPr/>
          <p:nvPr/>
        </p:nvSpPr>
        <p:spPr>
          <a:xfrm>
            <a:off x="8256270" y="2493010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文本切分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3BEE7E-DD52-427B-C56B-8D4569E7BF3D}"/>
              </a:ext>
            </a:extLst>
          </p:cNvPr>
          <p:cNvSpPr/>
          <p:nvPr/>
        </p:nvSpPr>
        <p:spPr>
          <a:xfrm>
            <a:off x="9912350" y="2493010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向量数据库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0E6DA8-8185-CC16-9469-63348617E2ED}"/>
              </a:ext>
            </a:extLst>
          </p:cNvPr>
          <p:cNvSpPr/>
          <p:nvPr/>
        </p:nvSpPr>
        <p:spPr>
          <a:xfrm>
            <a:off x="407035" y="3500755"/>
            <a:ext cx="11233785" cy="1733550"/>
          </a:xfrm>
          <a:prstGeom prst="rect">
            <a:avLst/>
          </a:prstGeom>
          <a:ln w="28575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D882EED-A9DD-D95B-DDA7-F01D1A3C3077}"/>
              </a:ext>
            </a:extLst>
          </p:cNvPr>
          <p:cNvSpPr txBox="1"/>
          <p:nvPr/>
        </p:nvSpPr>
        <p:spPr>
          <a:xfrm>
            <a:off x="5088255" y="5242560"/>
            <a:ext cx="4064000" cy="426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在线流程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4A5A44-34DF-FEAB-7BA7-AA5065318CA6}"/>
              </a:ext>
            </a:extLst>
          </p:cNvPr>
          <p:cNvSpPr/>
          <p:nvPr/>
        </p:nvSpPr>
        <p:spPr>
          <a:xfrm>
            <a:off x="6600190" y="3716655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Query</a:t>
            </a:r>
            <a:r>
              <a:rPr lang="zh-CN" altLang="en-US" sz="1400"/>
              <a:t>向量化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9577B9-71AB-BD14-CFC7-795FCDC72EE0}"/>
              </a:ext>
            </a:extLst>
          </p:cNvPr>
          <p:cNvSpPr/>
          <p:nvPr/>
        </p:nvSpPr>
        <p:spPr>
          <a:xfrm>
            <a:off x="8256270" y="3716655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向量匹配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F64D57-418F-65D0-93F2-6FDB7F05351F}"/>
              </a:ext>
            </a:extLst>
          </p:cNvPr>
          <p:cNvSpPr/>
          <p:nvPr/>
        </p:nvSpPr>
        <p:spPr>
          <a:xfrm>
            <a:off x="9912350" y="3716655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工程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B47037-BF29-3F49-E03E-C1C85C9C80AC}"/>
              </a:ext>
            </a:extLst>
          </p:cNvPr>
          <p:cNvSpPr/>
          <p:nvPr/>
        </p:nvSpPr>
        <p:spPr>
          <a:xfrm>
            <a:off x="6600190" y="4436745"/>
            <a:ext cx="482409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提交</a:t>
            </a:r>
            <a:r>
              <a:rPr lang="en-US" altLang="zh-CN" sz="1400"/>
              <a:t>LLM</a:t>
            </a:r>
            <a:r>
              <a:rPr lang="zh-CN" altLang="en-US" sz="1400"/>
              <a:t>生成答案</a:t>
            </a:r>
          </a:p>
        </p:txBody>
      </p:sp>
    </p:spTree>
    <p:extLst>
      <p:ext uri="{BB962C8B-B14F-4D97-AF65-F5344CB8AC3E}">
        <p14:creationId xmlns:p14="http://schemas.microsoft.com/office/powerpoint/2010/main" val="205227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  <p:bldP spid="8" grpId="0" bldLvl="0" animBg="1"/>
      <p:bldP spid="8" grpId="1" animBg="1"/>
      <p:bldP spid="9" grpId="0" bldLvl="0" animBg="1"/>
      <p:bldP spid="9" grpId="1" animBg="1"/>
      <p:bldP spid="10" grpId="0" bldLvl="0" animBg="1"/>
      <p:bldP spid="10" grpId="1" animBg="1"/>
      <p:bldP spid="11" grpId="0" bldLvl="0" animBg="1"/>
      <p:bldP spid="11" grpId="1" animBg="1"/>
      <p:bldP spid="12" grpId="0"/>
      <p:bldP spid="12" grpId="1"/>
      <p:bldP spid="13" grpId="0" bldLvl="0" animBg="1"/>
      <p:bldP spid="13" grpId="1" animBg="1"/>
      <p:bldP spid="14" grpId="0" bldLvl="0" animBg="1"/>
      <p:bldP spid="14" grpId="1" animBg="1"/>
      <p:bldP spid="15" grpId="0" bldLvl="0" animBg="1"/>
      <p:bldP spid="15" grpId="1" animBg="1"/>
      <p:bldP spid="16" grpId="0" bldLvl="0" animBg="1"/>
      <p:bldP spid="1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8727E-20B7-A7B8-9380-71A216DB8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E9068DE-9330-3A91-C3EB-667BD38A24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>
                <a:solidFill>
                  <a:srgbClr val="0A0A10"/>
                </a:solidFill>
                <a:uFillTx/>
                <a:latin typeface="JetBrains Mono Bold" panose="02000009000000000000" charset="0"/>
              </a:rPr>
              <a:t>项目需求和思路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A4FA79-ED0A-CFF5-1A33-A99E33BE9B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425" y="1124585"/>
            <a:ext cx="11162030" cy="2015490"/>
          </a:xfrm>
        </p:spPr>
        <p:txBody>
          <a:bodyPr/>
          <a:lstStyle/>
          <a:p>
            <a:pPr algn="l">
              <a:buClrTx/>
              <a:buSzTx/>
            </a:pPr>
            <a:r>
              <a:rPr lang="zh-CN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项目主要会实现如下代码：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4DB34A-0B4E-D3C4-BC35-847C8C3BE7FD}"/>
              </a:ext>
            </a:extLst>
          </p:cNvPr>
          <p:cNvSpPr/>
          <p:nvPr/>
        </p:nvSpPr>
        <p:spPr>
          <a:xfrm>
            <a:off x="3183253" y="1448117"/>
            <a:ext cx="2819022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app_file_upload.py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4F96C72-6AE9-2868-984F-7524A9ACD405}"/>
              </a:ext>
            </a:extLst>
          </p:cNvPr>
          <p:cNvSpPr txBox="1"/>
          <p:nvPr/>
        </p:nvSpPr>
        <p:spPr>
          <a:xfrm>
            <a:off x="6523087" y="1532196"/>
            <a:ext cx="5970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知识库更新主程序（</a:t>
            </a:r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streamlit</a:t>
            </a:r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EEA3B6-1B44-21C6-1A59-A43648C62F69}"/>
              </a:ext>
            </a:extLst>
          </p:cNvPr>
          <p:cNvSpPr/>
          <p:nvPr/>
        </p:nvSpPr>
        <p:spPr>
          <a:xfrm>
            <a:off x="3183254" y="2096452"/>
            <a:ext cx="2819022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app_qa.py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6C89AE-19C8-1037-7990-F350F77B2F30}"/>
              </a:ext>
            </a:extLst>
          </p:cNvPr>
          <p:cNvSpPr txBox="1"/>
          <p:nvPr/>
        </p:nvSpPr>
        <p:spPr>
          <a:xfrm>
            <a:off x="6523087" y="2180531"/>
            <a:ext cx="5970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项目主程序（</a:t>
            </a:r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streamlit</a:t>
            </a:r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），启动对话</a:t>
            </a:r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WEB</a:t>
            </a:r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页面</a:t>
            </a:r>
            <a:endParaRPr lang="en-US" altLang="zh-CN" sz="1600">
              <a:latin typeface="JetBrains Mono" panose="02000009000000000000" pitchFamily="49" charset="0"/>
              <a:ea typeface="阿里巴巴普惠体" panose="00020600040101010101" pitchFamily="18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F30BB2-C183-8919-2D7F-3A2D05635365}"/>
              </a:ext>
            </a:extLst>
          </p:cNvPr>
          <p:cNvSpPr/>
          <p:nvPr/>
        </p:nvSpPr>
        <p:spPr>
          <a:xfrm>
            <a:off x="3183253" y="2744787"/>
            <a:ext cx="2819023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config_data.py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15CF9B-B460-91B4-0648-4A7E337498E2}"/>
              </a:ext>
            </a:extLst>
          </p:cNvPr>
          <p:cNvSpPr txBox="1"/>
          <p:nvPr/>
        </p:nvSpPr>
        <p:spPr>
          <a:xfrm>
            <a:off x="6528048" y="2828866"/>
            <a:ext cx="5970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配置文件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8D6092-E915-D2AE-DE9E-5CC2908DEB6C}"/>
              </a:ext>
            </a:extLst>
          </p:cNvPr>
          <p:cNvSpPr/>
          <p:nvPr/>
        </p:nvSpPr>
        <p:spPr>
          <a:xfrm>
            <a:off x="3183254" y="3393122"/>
            <a:ext cx="2819021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file_history_store.py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E7E329E-3E25-BB8E-2293-A8E5FCC3444B}"/>
              </a:ext>
            </a:extLst>
          </p:cNvPr>
          <p:cNvSpPr txBox="1"/>
          <p:nvPr/>
        </p:nvSpPr>
        <p:spPr>
          <a:xfrm>
            <a:off x="6528048" y="3477201"/>
            <a:ext cx="5970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长期会话记忆存储服务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CE91091-96E4-724A-52C9-13319D0BD571}"/>
              </a:ext>
            </a:extLst>
          </p:cNvPr>
          <p:cNvSpPr/>
          <p:nvPr/>
        </p:nvSpPr>
        <p:spPr>
          <a:xfrm>
            <a:off x="3183254" y="4041457"/>
            <a:ext cx="2819021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knowledge_base.py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6387FD4-C9A7-6A11-88B2-C8E46F04C980}"/>
              </a:ext>
            </a:extLst>
          </p:cNvPr>
          <p:cNvSpPr txBox="1"/>
          <p:nvPr/>
        </p:nvSpPr>
        <p:spPr>
          <a:xfrm>
            <a:off x="6528048" y="4125536"/>
            <a:ext cx="5970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知识库更新服务</a:t>
            </a:r>
            <a:endParaRPr lang="en-US" altLang="zh-CN" sz="1400" i="1">
              <a:solidFill>
                <a:schemeClr val="accent1"/>
              </a:solidFill>
              <a:latin typeface="JetBrains Mono" panose="02000009000000000000" pitchFamily="49" charset="0"/>
              <a:ea typeface="阿里巴巴普惠体" panose="00020600040101010101" pitchFamily="18" charset="-122"/>
            </a:endParaRPr>
          </a:p>
        </p:txBody>
      </p:sp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D5BC953B-2CA1-053B-4383-E7B3D8FFF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45" y="1811654"/>
            <a:ext cx="2143125" cy="36671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09A28D8-9491-D9DA-E77C-E43407DB4074}"/>
              </a:ext>
            </a:extLst>
          </p:cNvPr>
          <p:cNvSpPr/>
          <p:nvPr/>
        </p:nvSpPr>
        <p:spPr>
          <a:xfrm>
            <a:off x="3183254" y="4689792"/>
            <a:ext cx="2819021" cy="504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rag.py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6352EE-4A75-4F70-891D-DFE0F22C4E16}"/>
              </a:ext>
            </a:extLst>
          </p:cNvPr>
          <p:cNvSpPr/>
          <p:nvPr/>
        </p:nvSpPr>
        <p:spPr>
          <a:xfrm>
            <a:off x="3190522" y="5336857"/>
            <a:ext cx="2819021" cy="504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vector_stores.py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1A9599-4970-067F-FA1D-036F7C4DFE91}"/>
              </a:ext>
            </a:extLst>
          </p:cNvPr>
          <p:cNvSpPr txBox="1"/>
          <p:nvPr/>
        </p:nvSpPr>
        <p:spPr>
          <a:xfrm>
            <a:off x="6523087" y="4772610"/>
            <a:ext cx="5970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rag</a:t>
            </a:r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核心服务</a:t>
            </a:r>
            <a:endParaRPr lang="en-US" altLang="zh-CN" sz="1400" i="1">
              <a:solidFill>
                <a:schemeClr val="accent1"/>
              </a:solidFill>
              <a:latin typeface="JetBrains Mono" panose="02000009000000000000" pitchFamily="49" charset="0"/>
              <a:ea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9ED029-D785-671B-CEEA-2EB8B2F7F947}"/>
              </a:ext>
            </a:extLst>
          </p:cNvPr>
          <p:cNvSpPr txBox="1"/>
          <p:nvPr/>
        </p:nvSpPr>
        <p:spPr>
          <a:xfrm>
            <a:off x="6523086" y="5419684"/>
            <a:ext cx="5970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JetBrains Mono" panose="02000009000000000000" pitchFamily="49" charset="0"/>
                <a:ea typeface="阿里巴巴普惠体" panose="00020600040101010101" pitchFamily="18" charset="-122"/>
              </a:rPr>
              <a:t>向量存储服务</a:t>
            </a:r>
            <a:endParaRPr lang="en-US" altLang="zh-CN" sz="1400" i="1">
              <a:solidFill>
                <a:schemeClr val="accent1"/>
              </a:solidFill>
              <a:latin typeface="JetBrains Mono" panose="02000009000000000000" pitchFamily="49" charset="0"/>
              <a:ea typeface="阿里巴巴普惠体" panose="00020600040101010101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17E188-1210-0DE8-713D-76D8532D8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903" y="1504117"/>
            <a:ext cx="9966846" cy="409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0E884-25CF-E6CF-6F61-6ED55D585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496C7AA-EBD7-9E81-9B6D-8F688697D4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>
                <a:solidFill>
                  <a:srgbClr val="0A0A10"/>
                </a:solidFill>
                <a:uFillTx/>
                <a:latin typeface="JetBrains Mono Bold" panose="02000009000000000000" charset="0"/>
              </a:rPr>
              <a:t>项目需求和思路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080A2C-EB56-BFB8-425E-B5C5E5F2E8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425" y="1124585"/>
            <a:ext cx="11162030" cy="2015490"/>
          </a:xfrm>
        </p:spPr>
        <p:txBody>
          <a:bodyPr/>
          <a:lstStyle/>
          <a:p>
            <a:pPr algn="l">
              <a:buClrTx/>
              <a:buSzTx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离线流程：</a:t>
            </a:r>
            <a:endParaRPr lang="zh-CN" sz="1600">
              <a:solidFill>
                <a:schemeClr val="tx1">
                  <a:lumMod val="85000"/>
                  <a:lumOff val="15000"/>
                </a:schemeClr>
              </a:solidFill>
              <a:uFillTx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F50B825-584B-2822-033B-09D57A156568}"/>
              </a:ext>
            </a:extLst>
          </p:cNvPr>
          <p:cNvSpPr/>
          <p:nvPr/>
        </p:nvSpPr>
        <p:spPr>
          <a:xfrm>
            <a:off x="2521895" y="5596837"/>
            <a:ext cx="2143126" cy="383304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JetBrains Mono" panose="02000009000000000000" pitchFamily="49" charset="0"/>
                <a:ea typeface="阿里巴巴普惠体" panose="00020600040101010101" pitchFamily="18" charset="-122"/>
              </a:rPr>
              <a:t>app_file_upload.py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1E1E08-3A59-0707-0E27-E4B5284D8B96}"/>
              </a:ext>
            </a:extLst>
          </p:cNvPr>
          <p:cNvSpPr/>
          <p:nvPr/>
        </p:nvSpPr>
        <p:spPr>
          <a:xfrm>
            <a:off x="4665021" y="6158355"/>
            <a:ext cx="2143127" cy="383304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JetBrains Mono" panose="02000009000000000000" pitchFamily="49" charset="0"/>
                <a:ea typeface="阿里巴巴普惠体" panose="00020600040101010101" pitchFamily="18" charset="-122"/>
              </a:rPr>
              <a:t>config_data.py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7899A6-519D-ACD3-4092-78D9D53FED6B}"/>
              </a:ext>
            </a:extLst>
          </p:cNvPr>
          <p:cNvSpPr/>
          <p:nvPr/>
        </p:nvSpPr>
        <p:spPr>
          <a:xfrm>
            <a:off x="6455418" y="5614484"/>
            <a:ext cx="2143125" cy="383304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JetBrains Mono" panose="02000009000000000000" pitchFamily="49" charset="0"/>
                <a:ea typeface="阿里巴巴普惠体" panose="00020600040101010101" pitchFamily="18" charset="-122"/>
              </a:rPr>
              <a:t>knowledge_base.py</a:t>
            </a:r>
          </a:p>
        </p:txBody>
      </p:sp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1133AD72-1E3D-5ECC-880B-D5177F1D1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3780" y="1811654"/>
            <a:ext cx="2143125" cy="36671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4E579C5-C171-1BF8-A274-C2C90BEB8D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1504117"/>
            <a:ext cx="9966846" cy="409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47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2368A-5F3E-1658-C964-82F3D81A3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99638B1-9DB0-BA13-8EE0-89AAAEAC9F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>
                <a:solidFill>
                  <a:srgbClr val="0A0A10"/>
                </a:solidFill>
                <a:uFillTx/>
                <a:latin typeface="JetBrains Mono Bold" panose="02000009000000000000" charset="0"/>
              </a:rPr>
              <a:t>项目需求和思路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92E209-E5DE-B41E-41DD-EA2E1018A9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425" y="1124585"/>
            <a:ext cx="11162030" cy="2015490"/>
          </a:xfrm>
        </p:spPr>
        <p:txBody>
          <a:bodyPr/>
          <a:lstStyle/>
          <a:p>
            <a:pPr algn="l">
              <a:buClrTx/>
              <a:buSzTx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本次项目以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"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某东商品衣服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"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为例，以衣服属性构建本地知识。使用者可以</a:t>
            </a:r>
            <a:r>
              <a:rPr lang="zh-CN" altLang="en-US" sz="1600" b="1">
                <a:solidFill>
                  <a:srgbClr val="C00000"/>
                </a:solidFill>
                <a:uFillTx/>
              </a:rPr>
              <a:t>自由更新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本地知识，用户问题的答案也是</a:t>
            </a:r>
            <a:r>
              <a:rPr lang="zh-CN" altLang="en-US" sz="1600" b="1">
                <a:solidFill>
                  <a:srgbClr val="C00000"/>
                </a:solidFill>
                <a:uFillTx/>
              </a:rPr>
              <a:t>基于本地知识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生成的。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71AF15-E809-BE15-2BDE-9BE0636A75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51180" y="2210435"/>
            <a:ext cx="5881370" cy="29051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AFA8538-87BB-CE5F-88E9-34AFF95E26B2}"/>
              </a:ext>
            </a:extLst>
          </p:cNvPr>
          <p:cNvSpPr/>
          <p:nvPr/>
        </p:nvSpPr>
        <p:spPr>
          <a:xfrm>
            <a:off x="6600190" y="2493010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本地知识文件</a:t>
            </a:r>
          </a:p>
          <a:p>
            <a:pPr algn="ctr"/>
            <a:r>
              <a:rPr lang="zh-CN" altLang="en-US" sz="1400"/>
              <a:t>加载和读取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18FC5A-E244-AB84-BF9A-3C647A41DC91}"/>
              </a:ext>
            </a:extLst>
          </p:cNvPr>
          <p:cNvSpPr/>
          <p:nvPr/>
        </p:nvSpPr>
        <p:spPr>
          <a:xfrm>
            <a:off x="8256270" y="2493010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文本切分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616211-510A-B0D0-E7D0-C0E0F9C966F7}"/>
              </a:ext>
            </a:extLst>
          </p:cNvPr>
          <p:cNvSpPr/>
          <p:nvPr/>
        </p:nvSpPr>
        <p:spPr>
          <a:xfrm>
            <a:off x="9912350" y="2493010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向量数据库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1C69AF-E5AC-49D6-E413-4641D75E683B}"/>
              </a:ext>
            </a:extLst>
          </p:cNvPr>
          <p:cNvSpPr/>
          <p:nvPr/>
        </p:nvSpPr>
        <p:spPr>
          <a:xfrm>
            <a:off x="407035" y="3500755"/>
            <a:ext cx="11233785" cy="1733550"/>
          </a:xfrm>
          <a:prstGeom prst="rect">
            <a:avLst/>
          </a:prstGeom>
          <a:ln w="28575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408D51-34A6-19D6-8A49-371174215DA2}"/>
              </a:ext>
            </a:extLst>
          </p:cNvPr>
          <p:cNvSpPr txBox="1"/>
          <p:nvPr/>
        </p:nvSpPr>
        <p:spPr>
          <a:xfrm>
            <a:off x="5088255" y="5242560"/>
            <a:ext cx="4064000" cy="426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在线流程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960803-8F78-F1C2-D2DE-A8B2B712EE24}"/>
              </a:ext>
            </a:extLst>
          </p:cNvPr>
          <p:cNvSpPr/>
          <p:nvPr/>
        </p:nvSpPr>
        <p:spPr>
          <a:xfrm>
            <a:off x="6600190" y="3716655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Query</a:t>
            </a:r>
            <a:r>
              <a:rPr lang="zh-CN" altLang="en-US" sz="1400"/>
              <a:t>向量化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2706C7-2D7E-03EE-2932-5F23B58162B7}"/>
              </a:ext>
            </a:extLst>
          </p:cNvPr>
          <p:cNvSpPr/>
          <p:nvPr/>
        </p:nvSpPr>
        <p:spPr>
          <a:xfrm>
            <a:off x="8256270" y="3716655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向量匹配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17F241-B16F-9A43-44F8-108F82646B1A}"/>
              </a:ext>
            </a:extLst>
          </p:cNvPr>
          <p:cNvSpPr/>
          <p:nvPr/>
        </p:nvSpPr>
        <p:spPr>
          <a:xfrm>
            <a:off x="9912350" y="3716655"/>
            <a:ext cx="151193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工程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11D0F2-90FF-F960-0AA9-601FCD221F09}"/>
              </a:ext>
            </a:extLst>
          </p:cNvPr>
          <p:cNvSpPr/>
          <p:nvPr/>
        </p:nvSpPr>
        <p:spPr>
          <a:xfrm>
            <a:off x="6600190" y="4436745"/>
            <a:ext cx="4824095" cy="5041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提交</a:t>
            </a:r>
            <a:r>
              <a:rPr lang="en-US" altLang="zh-CN" sz="1400"/>
              <a:t>LLM</a:t>
            </a:r>
            <a:r>
              <a:rPr lang="zh-CN" altLang="en-US" sz="1400"/>
              <a:t>生成答案</a:t>
            </a:r>
          </a:p>
        </p:txBody>
      </p:sp>
    </p:spTree>
    <p:extLst>
      <p:ext uri="{BB962C8B-B14F-4D97-AF65-F5344CB8AC3E}">
        <p14:creationId xmlns:p14="http://schemas.microsoft.com/office/powerpoint/2010/main" val="321698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  <p:bldP spid="9" grpId="0" bldLvl="0" animBg="1"/>
      <p:bldP spid="9" grpId="1" animBg="1"/>
      <p:bldP spid="10" grpId="0" bldLvl="0" animBg="1"/>
      <p:bldP spid="10" grpId="1" animBg="1"/>
      <p:bldP spid="11" grpId="0" bldLvl="0" animBg="1"/>
      <p:bldP spid="11" grpId="1" animBg="1"/>
      <p:bldP spid="12" grpId="0"/>
      <p:bldP spid="12" grpId="1"/>
      <p:bldP spid="13" grpId="0" bldLvl="0" animBg="1"/>
      <p:bldP spid="13" grpId="1" animBg="1"/>
      <p:bldP spid="14" grpId="0" bldLvl="0" animBg="1"/>
      <p:bldP spid="14" grpId="1" animBg="1"/>
      <p:bldP spid="15" grpId="0" bldLvl="0" animBg="1"/>
      <p:bldP spid="15" grpId="1" animBg="1"/>
      <p:bldP spid="16" grpId="0" bldLvl="0" animBg="1"/>
      <p:bldP spid="1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8B0BB-FEC0-3640-F1C4-789261913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FCF8602-6CE7-2E61-DD35-5AEE676FB4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>
                <a:solidFill>
                  <a:srgbClr val="0A0A10"/>
                </a:solidFill>
                <a:uFillTx/>
                <a:latin typeface="JetBrains Mono Bold" panose="02000009000000000000" charset="0"/>
              </a:rPr>
              <a:t>项目需求和思路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C8292E-83B4-366B-CDC1-5189D74A2C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425" y="1124585"/>
            <a:ext cx="11162030" cy="2015490"/>
          </a:xfrm>
        </p:spPr>
        <p:txBody>
          <a:bodyPr/>
          <a:lstStyle/>
          <a:p>
            <a:pPr algn="l">
              <a:buClrTx/>
              <a:buSzTx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在线流程：</a:t>
            </a:r>
            <a:endParaRPr lang="zh-CN" sz="1600">
              <a:solidFill>
                <a:schemeClr val="tx1">
                  <a:lumMod val="85000"/>
                  <a:lumOff val="15000"/>
                </a:schemeClr>
              </a:solidFill>
              <a:uFillTx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FF2C22-FAFF-B7A7-13EC-2CE817A59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1325388"/>
            <a:ext cx="9772541" cy="478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989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21584409,21584402]}"/>
</p:tagLst>
</file>

<file path=ppt/theme/theme1.xml><?xml version="1.0" encoding="utf-8"?>
<a:theme xmlns:a="http://schemas.openxmlformats.org/drawingml/2006/main" name="4_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4017</TotalTime>
  <Words>500</Words>
  <Application>Microsoft Office PowerPoint</Application>
  <PresentationFormat>宽屏</PresentationFormat>
  <Paragraphs>86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Alibaba PuHuiTi Regular</vt:lpstr>
      <vt:lpstr>Yuanti SC Bold</vt:lpstr>
      <vt:lpstr>阿里巴巴普惠体</vt:lpstr>
      <vt:lpstr>等线</vt:lpstr>
      <vt:lpstr>方正姚体_GBK</vt:lpstr>
      <vt:lpstr>Arial</vt:lpstr>
      <vt:lpstr>Calibri</vt:lpstr>
      <vt:lpstr>Consolas</vt:lpstr>
      <vt:lpstr>JetBrains Mono</vt:lpstr>
      <vt:lpstr>JetBrains Mono Bold</vt:lpstr>
      <vt:lpstr>Segoe UI</vt:lpstr>
      <vt:lpstr>Source Code Pro Regular</vt:lpstr>
      <vt:lpstr>4_WPS</vt:lpstr>
      <vt:lpstr>5_WPS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caoyu</dc:creator>
  <cp:lastModifiedBy>宇 曹</cp:lastModifiedBy>
  <cp:revision>1215</cp:revision>
  <dcterms:created xsi:type="dcterms:W3CDTF">2025-12-03T03:22:00Z</dcterms:created>
  <dcterms:modified xsi:type="dcterms:W3CDTF">2026-01-18T07:46:04Z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DE91D062FC84901490D01A69BB8A3050_42</vt:lpwstr>
  </property>
  <property fmtid="{D5CDD505-2E9C-101B-9397-08002B2CF9AE}" pid="3" name="KSOProductBuildVer">
    <vt:lpwstr>2052-12.1.0.24034</vt:lpwstr>
  </property>
</Properties>
</file>